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project name, your details, and one-line value proposition.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Briefly walk through the agenda — sets expectations for evaluators.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SwapShip as your academic MVC project solving real marketplace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each pain point with a real-world example before presenting SwapShip.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SwapShip as the direct answer to every problem listed on the previous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slide — detail each module on following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show Explore page and Add Item if live app is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6-step flow diagram left to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trust: buyer never pays 100% upfront; seller gets proof of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you understand full stack — backend, frontend, DB, third-party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Classic MVC slide for academic evaluators — connect to your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roles table + security bullets — shows thoughtful access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live app in browser. Walk through one complete happy-path transaction.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achievements, mention future work, invite questions confidently.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wapship.onrender.com" TargetMode="External"/><Relationship Id="rId3" Type="http://schemas.openxmlformats.org/officeDocument/2006/relationships/hyperlink" Target="https://github.com/Abhii0018/SwapShip.git" TargetMode="External"/><Relationship Id="rId4" Type="http://schemas.openxmlformats.org/officeDocument/2006/relationships/hyperlink" Target="https://www.youtube.com/watch?v=dQw4w9WgXcQ" TargetMode="External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B4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457200"/>
            <a:ext cx="4572000" cy="4572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105156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828800"/>
            <a:ext cx="98755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1E3A5F"/>
                </a:solidFill>
                <a:latin typeface="Segoe UI"/>
              </a:defRPr>
            </a:pPr>
            <a:r>
              <a:t>SwapShip</a:t>
            </a:r>
          </a:p>
          <a:p>
            <a:pPr>
              <a:spcBef>
                <a:spcPts val="1000"/>
              </a:spcBef>
              <a:defRPr sz="2200" b="0">
                <a:solidFill>
                  <a:srgbClr val="0D9488"/>
                </a:solidFill>
                <a:latin typeface="Segoe UI"/>
              </a:defRPr>
            </a:pPr>
            <a:r>
              <a:t>Peer-to-Peer Marketplace for Buy, Sell &amp; Exchange</a:t>
            </a:r>
          </a:p>
          <a:p>
            <a:pPr>
              <a:spcBef>
                <a:spcPts val="1400"/>
              </a:spcBef>
              <a:defRPr sz="1500" b="0">
                <a:solidFill>
                  <a:srgbClr val="1A2330"/>
                </a:solidFill>
                <a:latin typeface="Segoe UI"/>
              </a:defRPr>
            </a:pPr>
            <a:r>
              <a:t>With Integrated Split Payments, Shipping &amp; OTP Delivery</a:t>
            </a:r>
          </a:p>
          <a:p>
            <a:pPr>
              <a:spcBef>
                <a:spcPts val="2200"/>
              </a:spcBef>
              <a:defRPr sz="1300" b="0">
                <a:solidFill>
                  <a:srgbClr val="5A6878"/>
                </a:solidFill>
                <a:latin typeface="Segoe UI"/>
              </a:defRPr>
            </a:pPr>
            <a:r>
              <a:t>Course: MVC Programing (INT221)  ·  Continuous Assessment 3</a:t>
            </a:r>
          </a:p>
          <a:p>
            <a:pPr>
              <a:spcBef>
                <a:spcPts val="600"/>
              </a:spcBef>
              <a:defRPr sz="1300" b="1">
                <a:solidFill>
                  <a:srgbClr val="1E3A5F"/>
                </a:solidFill>
                <a:latin typeface="Segoe UI"/>
              </a:defRPr>
            </a:pPr>
            <a:r>
              <a:t>Abhishek Kumar  ·  Registration No. 12300520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19088"/>
            <a:ext cx="11201400" cy="10160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6878"/>
                </a:solidFill>
                <a:latin typeface="Segoe UI"/>
              </a:defRPr>
            </a:pPr>
            <a:r>
              <a:t>SwapShip  |  MVC Programing (INT221)  |  Abhishek Kumar  |  Reg. 12300520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5A6878"/>
                </a:solidFill>
                <a:latin typeface="Segoe UI"/>
              </a:defRPr>
            </a:pPr>
            <a:r>
              <a:t>1 / 14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1371600"/>
            <a:ext cx="3657600" cy="3657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4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201400" cy="4892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Agenda</a:t>
            </a:r>
          </a:p>
          <a:p>
            <a:pPr>
              <a:defRPr sz="1200" b="0">
                <a:solidFill>
                  <a:srgbClr val="CCFBF1"/>
                </a:solidFill>
                <a:latin typeface="Segoe UI"/>
              </a:defRPr>
            </a:pPr>
            <a:r>
              <a:t>Structure of this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348996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929383"/>
            <a:ext cx="3398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2920" y="1874519"/>
            <a:ext cx="348996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6072" y="1929383"/>
            <a:ext cx="3398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Topic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48600" y="1874519"/>
            <a:ext cx="348996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1752" y="1929383"/>
            <a:ext cx="3398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Key Points Covered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331719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377439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2920" y="2331719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6072" y="2377439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48600" y="2331719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1752" y="2377439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Project overview, objectives &amp; scope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2715767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2761487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2920" y="2715767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6072" y="2761487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48600" y="2715767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1752" y="2761487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Challenges in P2P trading today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099815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3145535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12920" y="3099815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6072" y="3145535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Proposed Solution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48600" y="3099815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1752" y="3145535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SwapShip platform &amp; value proposition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3483863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3529583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12920" y="3483863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6072" y="3529583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Core Features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48600" y="3483863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21752" y="3529583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Marketplace, exchange, chat, payments, shipping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3867911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" y="3913631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12920" y="3867911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6072" y="3913631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48600" y="3867911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21752" y="3913631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Laravel, database, integrations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4251959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2" y="4297679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12920" y="4251959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6072" y="4297679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Architecture &amp; Flow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48600" y="4251959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21752" y="4297679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MVC design &amp; transaction lifecycle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7240" y="4636007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0392" y="4681727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12920" y="4636007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86072" y="4681727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Security &amp; Users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48600" y="4636007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21752" y="4681727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Roles, OTP, admin &amp; trust layer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7240" y="5020055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0392" y="5065775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12920" y="5020055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86072" y="5065775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Demo &amp; Conclusion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848600" y="5020055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21752" y="5065775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Live links, outcomes &amp; Q&amp;A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" y="6419088"/>
            <a:ext cx="11201400" cy="10160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649224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6878"/>
                </a:solidFill>
                <a:latin typeface="Segoe UI"/>
              </a:defRPr>
            </a:pPr>
            <a:r>
              <a:t>SwapShip  |  MVC Programing (INT221)  |  Abhishek Kumar  |  Reg. 12300520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55680" y="649224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5A6878"/>
                </a:solidFill>
                <a:latin typeface="Segoe UI"/>
              </a:defRPr>
            </a:pPr>
            <a:r>
              <a:t>2 / 14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1371600"/>
            <a:ext cx="3657600" cy="3657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4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201400" cy="4892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Introduction</a:t>
            </a:r>
          </a:p>
          <a:p>
            <a:pPr>
              <a:defRPr sz="1200" b="0">
                <a:solidFill>
                  <a:srgbClr val="CCFBF1"/>
                </a:solidFill>
                <a:latin typeface="Segoe UI"/>
              </a:defRPr>
            </a:pPr>
            <a:r>
              <a:t>Project overview &amp;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5F"/>
                </a:solidFill>
                <a:latin typeface="Segoe UI"/>
              </a:defRPr>
            </a:pPr>
            <a:r>
              <a:t>What is SwapShip?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67128"/>
            <a:ext cx="5257800" cy="25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5257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Web-based P2P marketplace built with Laravel 13</a:t>
            </a:r>
          </a:p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Users buy, sell, or exchange items nationwide</a:t>
            </a:r>
          </a:p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Combines listings, chat, Razorpay payments &amp; shipment tracking</a:t>
            </a:r>
          </a:p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OTP verification confirms successful delivery</a:t>
            </a:r>
          </a:p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Reduces need for separate apps for each step of a deal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783080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5F"/>
                </a:solidFill>
                <a:latin typeface="Segoe UI"/>
              </a:defRPr>
            </a:pPr>
            <a:r>
              <a:t>Project Objectives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167128"/>
            <a:ext cx="5257800" cy="25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286000"/>
            <a:ext cx="5257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Provide a unified platform for peer-to-peer commerce</a:t>
            </a:r>
          </a:p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Enable secure split-payment (escrow-style) transactions</a:t>
            </a:r>
          </a:p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Automate shipment creation and live status updates</a:t>
            </a:r>
          </a:p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Support real-time negotiation through in-app chat</a:t>
            </a:r>
          </a:p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Ensure verified users and admin oversight for safety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19088"/>
            <a:ext cx="11201400" cy="10160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6878"/>
                </a:solidFill>
                <a:latin typeface="Segoe UI"/>
              </a:defRPr>
            </a:pPr>
            <a:r>
              <a:t>SwapShip  |  MVC Programing (INT221)  |  Abhishek Kumar  |  Reg. 12300520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5A6878"/>
                </a:solidFill>
                <a:latin typeface="Segoe UI"/>
              </a:defRPr>
            </a:pPr>
            <a:r>
              <a:t>3 / 14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1371600"/>
            <a:ext cx="3657600" cy="3657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4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201400" cy="4892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Problem Statement</a:t>
            </a:r>
          </a:p>
          <a:p>
            <a:pPr>
              <a:defRPr sz="1200" b="0">
                <a:solidFill>
                  <a:srgbClr val="CCFBF1"/>
                </a:solidFill>
                <a:latin typeface="Segoe UI"/>
              </a:defRPr>
            </a:pPr>
            <a:r>
              <a:t>Why existing P2P methods are insufficient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A2330"/>
                </a:solidFill>
                <a:latin typeface="Segoe UI"/>
              </a:defRPr>
            </a:pPr>
            <a:r>
              <a:t>Trust Deficit — Buyers fear paying full amount upfront; sellers fear shipping without guaranteed payment.</a:t>
            </a:r>
          </a:p>
          <a:p>
            <a:pPr>
              <a:spcAft>
                <a:spcPts val="1000"/>
              </a:spcAft>
              <a:defRPr sz="1300" b="0">
                <a:solidFill>
                  <a:srgbClr val="1A2330"/>
                </a:solidFill>
                <a:latin typeface="Segoe UI"/>
              </a:defRPr>
            </a:pPr>
            <a:r>
              <a:t>Fragmented Workflow — Listing on one app, chatting on another, payment via UPI, courier booked separately.</a:t>
            </a:r>
          </a:p>
          <a:p>
            <a:pPr>
              <a:spcAft>
                <a:spcPts val="1000"/>
              </a:spcAft>
              <a:defRPr sz="1300" b="0">
                <a:solidFill>
                  <a:srgbClr val="1A2330"/>
                </a:solidFill>
                <a:latin typeface="Segoe UI"/>
              </a:defRPr>
            </a:pPr>
            <a:r>
              <a:t>No Delivery Proof — Offline deals lack tracking, OTP handover, or dispute-ready transaction records.</a:t>
            </a:r>
          </a:p>
          <a:p>
            <a:pPr>
              <a:spcAft>
                <a:spcPts val="1000"/>
              </a:spcAft>
              <a:defRPr sz="1300" b="0">
                <a:solidFill>
                  <a:srgbClr val="1A2330"/>
                </a:solidFill>
                <a:latin typeface="Segoe UI"/>
              </a:defRPr>
            </a:pPr>
            <a:r>
              <a:t>Limited Verification — Open platforms allow fake listings and unverified counterparties.</a:t>
            </a:r>
          </a:p>
          <a:p>
            <a:pPr>
              <a:spcAft>
                <a:spcPts val="1000"/>
              </a:spcAft>
              <a:defRPr sz="1300" b="0">
                <a:solidFill>
                  <a:srgbClr val="1A2330"/>
                </a:solidFill>
                <a:latin typeface="Segoe UI"/>
              </a:defRPr>
            </a:pPr>
            <a:r>
              <a:t>Time &amp; Cost Overhead — Multiple middlemen and manual coordination increase friction and fees.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074920"/>
            <a:ext cx="10607040" cy="685800"/>
          </a:xfrm>
          <a:prstGeom prst="roundRect">
            <a:avLst/>
          </a:prstGeom>
          <a:solidFill>
            <a:srgbClr val="CCFBF1"/>
          </a:solidFill>
          <a:ln w="95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23036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5F"/>
                </a:solidFill>
                <a:latin typeface="Segoe UI"/>
              </a:defRPr>
            </a:pPr>
            <a:r>
              <a:t>Need: One trusted platform covering discovery → negotiation → payment → shipping → confirmation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19088"/>
            <a:ext cx="11201400" cy="10160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6878"/>
                </a:solidFill>
                <a:latin typeface="Segoe UI"/>
              </a:defRPr>
            </a:pPr>
            <a:r>
              <a:t>SwapShip  |  MVC Programing (INT221)  |  Abhishek Kumar  |  Reg. 12300520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9224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5A6878"/>
                </a:solidFill>
                <a:latin typeface="Segoe UI"/>
              </a:defRPr>
            </a:pPr>
            <a:r>
              <a:t>4 / 14</a:t>
            </a:r>
          </a:p>
        </p:txBody>
      </p:sp>
    </p:spTree>
  </p:cSld>
  <p:clrMapOvr>
    <a:masterClrMapping/>
  </p:clrMapOvr>
  <p:transition spd="med">
    <p:wipe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1371600"/>
            <a:ext cx="3657600" cy="3657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4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201400" cy="4892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Proposed Solution — SwapShip</a:t>
            </a:r>
          </a:p>
          <a:p>
            <a:pPr>
              <a:defRPr sz="1200" b="0">
                <a:solidFill>
                  <a:srgbClr val="CCFBF1"/>
                </a:solidFill>
                <a:latin typeface="Segoe UI"/>
              </a:defRPr>
            </a:pPr>
            <a:r>
              <a:t>End-to-end peer-to-peer transaction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A2330"/>
                </a:solidFill>
                <a:latin typeface="Segoe UI"/>
              </a:defRPr>
            </a:pPr>
            <a:r>
              <a:t>Single Laravel web application for the complete deal lifecycle</a:t>
            </a:r>
          </a:p>
          <a:p>
            <a:pPr>
              <a:spcAft>
                <a:spcPts val="1000"/>
              </a:spcAft>
              <a:defRPr sz="1300" b="0">
                <a:solidFill>
                  <a:srgbClr val="1A2330"/>
                </a:solidFill>
                <a:latin typeface="Segoe UI"/>
              </a:defRPr>
            </a:pPr>
            <a:r>
              <a:t>Marketplace with search, filters, geo-location &amp; Cloudinary image uploads</a:t>
            </a:r>
          </a:p>
          <a:p>
            <a:pPr>
              <a:spcAft>
                <a:spcPts val="1000"/>
              </a:spcAft>
              <a:defRPr sz="1300" b="0">
                <a:solidFill>
                  <a:srgbClr val="1A2330"/>
                </a:solidFill>
                <a:latin typeface="Segoe UI"/>
              </a:defRPr>
            </a:pPr>
            <a:r>
              <a:t>Exchange requests with accept/reject, confirmation &amp; deal-terms workflow</a:t>
            </a:r>
          </a:p>
          <a:p>
            <a:pPr>
              <a:spcAft>
                <a:spcPts val="1000"/>
              </a:spcAft>
              <a:defRPr sz="1300" b="0">
                <a:solidFill>
                  <a:srgbClr val="1A2330"/>
                </a:solidFill>
                <a:latin typeface="Segoe UI"/>
              </a:defRPr>
            </a:pPr>
            <a:r>
              <a:t>Razorpay split payments — partial upfront, remaining at doorstep delivery</a:t>
            </a:r>
          </a:p>
          <a:p>
            <a:pPr>
              <a:spcAft>
                <a:spcPts val="1000"/>
              </a:spcAft>
              <a:defRPr sz="1300" b="0">
                <a:solidFill>
                  <a:srgbClr val="1A2330"/>
                </a:solidFill>
                <a:latin typeface="Segoe UI"/>
              </a:defRPr>
            </a:pPr>
            <a:r>
              <a:t>Integrated shipments with AWB tracking, webhooks &amp; event timeline</a:t>
            </a:r>
          </a:p>
          <a:p>
            <a:pPr>
              <a:spcAft>
                <a:spcPts val="1000"/>
              </a:spcAft>
              <a:defRPr sz="1300" b="0">
                <a:solidFill>
                  <a:srgbClr val="1A2330"/>
                </a:solidFill>
                <a:latin typeface="Segoe UI"/>
              </a:defRPr>
            </a:pPr>
            <a:r>
              <a:t>Email OTP registration, Google OAuth, delivery OTP &amp; admin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19088"/>
            <a:ext cx="11201400" cy="10160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6878"/>
                </a:solidFill>
                <a:latin typeface="Segoe UI"/>
              </a:defRPr>
            </a:pPr>
            <a:r>
              <a:t>SwapShip  |  MVC Programing (INT221)  |  Abhishek Kumar  |  Reg. 12300520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5A6878"/>
                </a:solidFill>
                <a:latin typeface="Segoe UI"/>
              </a:defRPr>
            </a:pPr>
            <a:r>
              <a:t>5 / 14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1371600"/>
            <a:ext cx="3657600" cy="3657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4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201400" cy="4892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Core Features Overview</a:t>
            </a:r>
          </a:p>
          <a:p>
            <a:pPr>
              <a:defRPr sz="1200" b="0">
                <a:solidFill>
                  <a:srgbClr val="CCFBF1"/>
                </a:solidFill>
                <a:latin typeface="Segoe UI"/>
              </a:defRPr>
            </a:pPr>
            <a:r>
              <a:t>Six integrated modules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664208"/>
            <a:ext cx="348996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719072"/>
            <a:ext cx="3398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Module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2920" y="1664208"/>
            <a:ext cx="348996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6072" y="1719072"/>
            <a:ext cx="3398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48600" y="1664208"/>
            <a:ext cx="348996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1752" y="1719072"/>
            <a:ext cx="3398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Key Capability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121408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167128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Marketplace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2920" y="2121408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6072" y="2167128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Item listings &amp; discovery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48600" y="2121408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1752" y="2167128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Explore, filter, saved searches, my-items dashboard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2505456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2551176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Exchange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2920" y="2505456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6072" y="2551176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Deal initiation &amp; approval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48600" y="2505456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1752" y="2551176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Request, accept, confirm, shipment gates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2889504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2935224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Chat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12920" y="2889504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6072" y="2935224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Buyer-seller coordination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48600" y="2889504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1752" y="2935224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Messages, attachments, typing, read status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3273552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3319272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Payments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12920" y="3273552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6072" y="3319272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Razorpay integration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48600" y="3273552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21752" y="3319272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Split pay, checkout, webhooks, order stages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3657600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" y="3703320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Shipping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12920" y="3657600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6072" y="3703320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Logistics &amp; tracking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48600" y="3657600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21752" y="3703320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Pickup, events, provider webhooks, status sync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4041648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2" y="4087368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Security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12920" y="4041648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6072" y="4087368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Trust &amp; administration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48600" y="4041648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21752" y="4087368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OTP verify, Google login, admin panel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6419088"/>
            <a:ext cx="11201400" cy="10160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649224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6878"/>
                </a:solidFill>
                <a:latin typeface="Segoe UI"/>
              </a:defRPr>
            </a:pPr>
            <a:r>
              <a:t>SwapShip  |  MVC Programing (INT221)  |  Abhishek Kumar  |  Reg. 12300520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0" y="649224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5A6878"/>
                </a:solidFill>
                <a:latin typeface="Segoe UI"/>
              </a:defRPr>
            </a:pPr>
            <a:r>
              <a:t>6 / 14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1371600"/>
            <a:ext cx="3657600" cy="3657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4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201400" cy="4892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Marketplace Module</a:t>
            </a:r>
          </a:p>
          <a:p>
            <a:pPr>
              <a:defRPr sz="1200" b="0">
                <a:solidFill>
                  <a:srgbClr val="CCFBF1"/>
                </a:solidFill>
                <a:latin typeface="Segoe UI"/>
              </a:defRPr>
            </a:pPr>
            <a:r>
              <a:t>Item listing, search &amp;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5F"/>
                </a:solidFill>
                <a:latin typeface="Segoe UI"/>
              </a:defRPr>
            </a:pPr>
            <a:r>
              <a:t>User Features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67128"/>
            <a:ext cx="5257800" cy="25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5257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Landing page with featured listings &amp; marketplace intro</a:t>
            </a:r>
          </a:p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Explore page: search by title, category, location, condition, price</a:t>
            </a:r>
          </a:p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Create / edit / delete items with multiple images</a:t>
            </a:r>
          </a:p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My Items &amp; My Dashboard for seller management</a:t>
            </a:r>
          </a:p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Saved searches for repeated filter combinations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783080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5F"/>
                </a:solidFill>
                <a:latin typeface="Segoe UI"/>
              </a:defRPr>
            </a:pPr>
            <a:r>
              <a:t>Technical Implementation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167128"/>
            <a:ext cx="5257800" cy="25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286000"/>
            <a:ext cx="5257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ItemController — landing, index, CRUD, suggestions</a:t>
            </a:r>
          </a:p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Cloudinary PHP SDK for image storage &amp; delivery</a:t>
            </a:r>
          </a:p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OpenStreetMap Nominatim for location autocomplete</a:t>
            </a:r>
          </a:p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Geo fields on items for location-aware browsing</a:t>
            </a:r>
          </a:p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Rate-limited API endpoints for suggestions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19088"/>
            <a:ext cx="11201400" cy="10160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6878"/>
                </a:solidFill>
                <a:latin typeface="Segoe UI"/>
              </a:defRPr>
            </a:pPr>
            <a:r>
              <a:t>SwapShip  |  MVC Programing (INT221)  |  Abhishek Kumar  |  Reg. 12300520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5A6878"/>
                </a:solidFill>
                <a:latin typeface="Segoe UI"/>
              </a:defRPr>
            </a:pPr>
            <a:r>
              <a:t>7 / 14</a:t>
            </a:r>
          </a:p>
        </p:txBody>
      </p:sp>
    </p:spTree>
  </p:cSld>
  <p:clrMapOvr>
    <a:masterClrMapping/>
  </p:clrMapOvr>
  <p:transition spd="med">
    <p:wipe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1371600"/>
            <a:ext cx="3657600" cy="3657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4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201400" cy="4892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Exchange &amp; Chat Module</a:t>
            </a:r>
          </a:p>
          <a:p>
            <a:pPr>
              <a:defRPr sz="1200" b="0">
                <a:solidFill>
                  <a:srgbClr val="CCFBF1"/>
                </a:solidFill>
                <a:latin typeface="Segoe UI"/>
              </a:defRPr>
            </a:pPr>
            <a:r>
              <a:t>Deal workflow &amp; real-time communication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1965960"/>
            <a:ext cx="1606296" cy="141732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75688"/>
            <a:ext cx="1432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5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04872"/>
            <a:ext cx="1432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330"/>
                </a:solidFill>
                <a:latin typeface="Segoe UI"/>
              </a:defRPr>
            </a:pPr>
            <a:r>
              <a:t>Browse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834640"/>
            <a:ext cx="143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A6878"/>
                </a:solidFill>
                <a:latin typeface="Segoe UI"/>
              </a:defRPr>
            </a:pPr>
            <a:r>
              <a:t>Find item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465832" y="2532888"/>
            <a:ext cx="256032" cy="182880"/>
          </a:xfrm>
          <a:prstGeom prst="rightArrow">
            <a:avLst/>
          </a:prstGeom>
          <a:solidFill>
            <a:srgbClr val="B4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48712" y="1965960"/>
            <a:ext cx="160629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58440" y="2075688"/>
            <a:ext cx="1432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5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8440" y="2404872"/>
            <a:ext cx="1432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330"/>
                </a:solidFill>
                <a:latin typeface="Segoe UI"/>
              </a:defRPr>
            </a:pPr>
            <a:r>
              <a:t>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8440" y="2834640"/>
            <a:ext cx="143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A6878"/>
                </a:solidFill>
                <a:latin typeface="Segoe UI"/>
              </a:defRPr>
            </a:pPr>
            <a:r>
              <a:t>Send exchange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218432" y="2532888"/>
            <a:ext cx="256032" cy="182880"/>
          </a:xfrm>
          <a:prstGeom prst="rightArrow">
            <a:avLst/>
          </a:prstGeom>
          <a:solidFill>
            <a:srgbClr val="B4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01312" y="1965960"/>
            <a:ext cx="1606296" cy="141732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1040" y="2075688"/>
            <a:ext cx="1432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5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1040" y="2404872"/>
            <a:ext cx="1432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330"/>
                </a:solidFill>
                <a:latin typeface="Segoe UI"/>
              </a:defRPr>
            </a:pPr>
            <a:r>
              <a:t>Chat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1040" y="2834640"/>
            <a:ext cx="143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A6878"/>
                </a:solidFill>
                <a:latin typeface="Segoe UI"/>
              </a:defRPr>
            </a:pPr>
            <a:r>
              <a:t>Negotiate price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71032" y="2532888"/>
            <a:ext cx="256032" cy="182880"/>
          </a:xfrm>
          <a:prstGeom prst="rightArrow">
            <a:avLst/>
          </a:prstGeom>
          <a:solidFill>
            <a:srgbClr val="B4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53912" y="1965960"/>
            <a:ext cx="160629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2075688"/>
            <a:ext cx="1432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5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404872"/>
            <a:ext cx="1432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330"/>
                </a:solidFill>
                <a:latin typeface="Segoe UI"/>
              </a:defRPr>
            </a:pPr>
            <a:r>
              <a:t>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834640"/>
            <a:ext cx="143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A6878"/>
                </a:solidFill>
                <a:latin typeface="Segoe UI"/>
              </a:defRPr>
            </a:pPr>
            <a:r>
              <a:t>Both confirm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723632" y="2532888"/>
            <a:ext cx="256032" cy="182880"/>
          </a:xfrm>
          <a:prstGeom prst="rightArrow">
            <a:avLst/>
          </a:prstGeom>
          <a:solidFill>
            <a:srgbClr val="B4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06512" y="1965960"/>
            <a:ext cx="1606296" cy="141732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16240" y="2075688"/>
            <a:ext cx="1432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5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6240" y="2404872"/>
            <a:ext cx="1432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330"/>
                </a:solidFill>
                <a:latin typeface="Segoe UI"/>
              </a:defRPr>
            </a:pPr>
            <a:r>
              <a:t>Terms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6240" y="2834640"/>
            <a:ext cx="143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A6878"/>
                </a:solidFill>
                <a:latin typeface="Segoe UI"/>
              </a:defRPr>
            </a:pPr>
            <a:r>
              <a:t>Deal terms set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476232" y="2532888"/>
            <a:ext cx="256032" cy="182880"/>
          </a:xfrm>
          <a:prstGeom prst="rightArrow">
            <a:avLst/>
          </a:prstGeom>
          <a:solidFill>
            <a:srgbClr val="B4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659112" y="1965960"/>
            <a:ext cx="160629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68840" y="2075688"/>
            <a:ext cx="1432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5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8840" y="2404872"/>
            <a:ext cx="1432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330"/>
                </a:solidFill>
                <a:latin typeface="Segoe UI"/>
              </a:defRPr>
            </a:pPr>
            <a:r>
              <a:t>Ship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8840" y="2834640"/>
            <a:ext cx="143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A6878"/>
                </a:solidFill>
                <a:latin typeface="Segoe UI"/>
              </a:defRPr>
            </a:pPr>
            <a:r>
              <a:t>Create shipment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657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MessageController: attachments (image, PDF, audio), typing indicators, presence, block/report</a:t>
            </a:r>
          </a:p>
          <a:p>
            <a:pPr>
              <a:spcAft>
                <a:spcPts val="10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Pusher broadcasting for real-time updates; unread notification summary endpoint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419088"/>
            <a:ext cx="11201400" cy="10160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49224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6878"/>
                </a:solidFill>
                <a:latin typeface="Segoe UI"/>
              </a:defRPr>
            </a:pPr>
            <a:r>
              <a:t>SwapShip  |  MVC Programing (INT221)  |  Abhishek Kumar  |  Reg. 12300520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9224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5A6878"/>
                </a:solidFill>
                <a:latin typeface="Segoe UI"/>
              </a:defRPr>
            </a:pPr>
            <a:r>
              <a:t>8 / 14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1371600"/>
            <a:ext cx="3657600" cy="3657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4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201400" cy="4892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Payments &amp; Shipping</a:t>
            </a:r>
          </a:p>
          <a:p>
            <a:pPr>
              <a:defRPr sz="1200" b="0">
                <a:solidFill>
                  <a:srgbClr val="CCFBF1"/>
                </a:solidFill>
                <a:latin typeface="Segoe UI"/>
              </a:defRPr>
            </a:pPr>
            <a:r>
              <a:t>Razorpay split pay + logistics + OTP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5F"/>
                </a:solidFill>
                <a:latin typeface="Segoe UI"/>
              </a:defRPr>
            </a:pPr>
            <a:r>
              <a:t>Payment System (Razorpay)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67128"/>
            <a:ext cx="5257800" cy="25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5257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Escrow-style split: upfront amount + balance at delivery</a:t>
            </a:r>
          </a:p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Checkout page, init-razorpay, pay &amp; callback routes</a:t>
            </a:r>
          </a:p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Webhook signature verification before updating orders</a:t>
            </a:r>
          </a:p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Order tracks payment_status across all stages</a:t>
            </a:r>
          </a:p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Platform fee percentage configurable via 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783080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5F"/>
                </a:solidFill>
                <a:latin typeface="Segoe UI"/>
              </a:defRPr>
            </a:pPr>
            <a:r>
              <a:t>Shipping &amp; OTP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167128"/>
            <a:ext cx="5257800" cy="25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286000"/>
            <a:ext cx="5257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Shipment auto-created when exchange is accepted</a:t>
            </a:r>
          </a:p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Pickup scheduling, status patches &amp; event log (AWB)</a:t>
            </a:r>
          </a:p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ShippingProviderInterface + webhook controller</a:t>
            </a:r>
          </a:p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Delivery OTP generate/verify before deal completion</a:t>
            </a:r>
          </a:p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Admin dashboard tracks OTP generated vs verified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19088"/>
            <a:ext cx="11201400" cy="10160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6878"/>
                </a:solidFill>
                <a:latin typeface="Segoe UI"/>
              </a:defRPr>
            </a:pPr>
            <a:r>
              <a:t>SwapShip  |  MVC Programing (INT221)  |  Abhishek Kumar  |  Reg. 12300520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5A6878"/>
                </a:solidFill>
                <a:latin typeface="Segoe UI"/>
              </a:defRPr>
            </a:pPr>
            <a:r>
              <a:t>9 / 14</a:t>
            </a:r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1371600"/>
            <a:ext cx="3657600" cy="3657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4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201400" cy="4892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Technology Stack</a:t>
            </a:r>
          </a:p>
          <a:p>
            <a:pPr>
              <a:defRPr sz="1200" b="0">
                <a:solidFill>
                  <a:srgbClr val="CCFBF1"/>
                </a:solidFill>
                <a:latin typeface="Segoe UI"/>
              </a:defRPr>
            </a:pPr>
            <a:r>
              <a:t>Tools &amp; frameworks used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627632"/>
            <a:ext cx="348996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682496"/>
            <a:ext cx="3398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2920" y="1627632"/>
            <a:ext cx="348996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6072" y="1682496"/>
            <a:ext cx="3398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Technology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48600" y="1627632"/>
            <a:ext cx="348996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1752" y="1682496"/>
            <a:ext cx="3398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Purpose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084832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130552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2920" y="2084832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6072" y="2130552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PHP 8.3, Laravel 13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48600" y="2084832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1752" y="2130552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MVC app, routing, Eloquent ORM, auth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2468880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2514600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2920" y="2468880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6072" y="2514600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Blade, Tailwind CSS, Alpine.js, Vite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48600" y="2468880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1752" y="2514600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Responsive UI &amp; asset build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2852928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2898648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Database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12920" y="2852928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6072" y="2898648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PostgreSQL / MySQL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48600" y="2852928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1752" y="2898648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Users, items, exchanges, messages, orders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3236976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3282696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Payments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12920" y="3236976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6072" y="3282696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Razorpay API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48600" y="3236976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21752" y="3282696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Online checkout &amp; webhook processing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3621024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" y="3666744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Real-time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12920" y="3621024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6072" y="3666744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Pusher PHP Server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48600" y="3621024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21752" y="3666744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Chat updates &amp; notifications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4005072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2" y="4050792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Media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12920" y="4005072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6072" y="4050792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Cloudinary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48600" y="4005072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21752" y="4050792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Item image upload &amp; CDN delivery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7240" y="4389120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0392" y="4434840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Auth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12920" y="4389120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86072" y="4434840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Laravel Breeze, Socialite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48600" y="4389120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21752" y="4434840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Login, register, Google OAuth, email OTP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7240" y="4773168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0392" y="4818888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Deploy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12920" y="4773168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86072" y="4818888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Render, Docker, Procfile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848600" y="4773168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21752" y="4818888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Cloud hosting &amp; health check endpoint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" y="6419088"/>
            <a:ext cx="11201400" cy="10160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649224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6878"/>
                </a:solidFill>
                <a:latin typeface="Segoe UI"/>
              </a:defRPr>
            </a:pPr>
            <a:r>
              <a:t>SwapShip  |  MVC Programing (INT221)  |  Abhishek Kumar  |  Reg. 12300520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55680" y="649224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5A6878"/>
                </a:solidFill>
                <a:latin typeface="Segoe UI"/>
              </a:defRPr>
            </a:pPr>
            <a:r>
              <a:t>10 / 14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1371600"/>
            <a:ext cx="3657600" cy="3657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4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201400" cy="4892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  <a:p>
            <a:pPr>
              <a:defRPr sz="1200" b="0">
                <a:solidFill>
                  <a:srgbClr val="CCFBF1"/>
                </a:solidFill>
                <a:latin typeface="Segoe UI"/>
              </a:defRPr>
            </a:pPr>
            <a:r>
              <a:t>MVC pattern &amp; data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5F"/>
                </a:solidFill>
                <a:latin typeface="Segoe UI"/>
              </a:defRPr>
            </a:pPr>
            <a:r>
              <a:t>MVC Layers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67128"/>
            <a:ext cx="5257800" cy="25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5257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Model — User, Item, ExchangeRequest, Message, Shipment, Order, DeliveryOtp</a:t>
            </a:r>
          </a:p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View — Blade templates (welcome, explore, chat, shipments, checkout)</a:t>
            </a:r>
          </a:p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Controller — Item, ExchangeRequest, Message, Shipment, Payment, Admin</a:t>
            </a:r>
          </a:p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Services — ShippingProviderInterface, DealTermsService</a:t>
            </a:r>
          </a:p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Policies &amp; Middleware — ShipmentPolicy, AdminMiddleware, EnsureUserIsVerified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783080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5F"/>
                </a:solidFill>
                <a:latin typeface="Segoe UI"/>
              </a:defRPr>
            </a:pPr>
            <a:r>
              <a:t>Transaction Lifecycle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167128"/>
            <a:ext cx="5257800" cy="25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286000"/>
            <a:ext cx="5257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User registers → Email OTP / Google OAuth verification</a:t>
            </a:r>
          </a:p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Lists or browses items → Sends exchange request</a:t>
            </a:r>
          </a:p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Chat &amp; deal terms → Accept &amp; confirm exchange</a:t>
            </a:r>
          </a:p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Upfront Razorpay payment → Shipment created &amp; tracked</a:t>
            </a:r>
          </a:p>
          <a:p>
            <a:pPr>
              <a:spcAft>
                <a:spcPts val="8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Delivery OTP verified → Exchange marked complete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19088"/>
            <a:ext cx="11201400" cy="10160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6878"/>
                </a:solidFill>
                <a:latin typeface="Segoe UI"/>
              </a:defRPr>
            </a:pPr>
            <a:r>
              <a:t>SwapShip  |  MVC Programing (INT221)  |  Abhishek Kumar  |  Reg. 12300520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5A6878"/>
                </a:solidFill>
                <a:latin typeface="Segoe UI"/>
              </a:defRPr>
            </a:pPr>
            <a:r>
              <a:t>11 / 14</a:t>
            </a:r>
          </a:p>
        </p:txBody>
      </p:sp>
    </p:spTree>
  </p:cSld>
  <p:clrMapOvr>
    <a:masterClrMapping/>
  </p:clrMapOvr>
  <p:transition spd="med">
    <p:wipe dir="l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1371600"/>
            <a:ext cx="3657600" cy="3657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4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201400" cy="4892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Security &amp; User Roles</a:t>
            </a:r>
          </a:p>
          <a:p>
            <a:pPr>
              <a:defRPr sz="1200" b="0">
                <a:solidFill>
                  <a:srgbClr val="CCFBF1"/>
                </a:solidFill>
                <a:latin typeface="Segoe UI"/>
              </a:defRPr>
            </a:pPr>
            <a:r>
              <a:t>Access control &amp; trust mechanisms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627632"/>
            <a:ext cx="348996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682496"/>
            <a:ext cx="3398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User Role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2920" y="1627632"/>
            <a:ext cx="348996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6072" y="1682496"/>
            <a:ext cx="3398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Permissions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48600" y="1627632"/>
            <a:ext cx="348996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1752" y="1682496"/>
            <a:ext cx="3398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Restrictions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084832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130552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Guest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2920" y="2084832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6072" y="2130552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View landing &amp; explore listings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48600" y="2084832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1752" y="2130552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Cannot post or transact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2468880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2514600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Registered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2920" y="2468880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6072" y="2514600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Post items, chat, send requests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48600" y="2468880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1752" y="2514600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Must verify for sensitive actions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2852928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2898648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Verified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12920" y="2852928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6072" y="2898648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Confirm exchanges, pay, ship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48600" y="2852928"/>
            <a:ext cx="348996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1752" y="2898648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Profile phone/address required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3236976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3282696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Admin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12920" y="3236976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6072" y="3282696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Admin dashboard, order/OTP tracking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48600" y="3236976"/>
            <a:ext cx="3489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21752" y="3282696"/>
            <a:ext cx="339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A2330"/>
                </a:solidFill>
                <a:latin typeface="Segoe UI"/>
              </a:defRPr>
            </a:pPr>
            <a:r>
              <a:t>Protected by admin middleware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4348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Security: CSRF protection, rate limiting, Razorpay webhook signatures, session timeout, banned users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419088"/>
            <a:ext cx="11201400" cy="10160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49224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6878"/>
                </a:solidFill>
                <a:latin typeface="Segoe UI"/>
              </a:defRPr>
            </a:pPr>
            <a:r>
              <a:t>SwapShip  |  MVC Programing (INT221)  |  Abhishek Kumar  |  Reg. 12300520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9224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5A6878"/>
                </a:solidFill>
                <a:latin typeface="Segoe UI"/>
              </a:defRPr>
            </a:pPr>
            <a:r>
              <a:t>12 / 14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1371600"/>
            <a:ext cx="3657600" cy="3657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4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201400" cy="4892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Live Demo &amp; Project Links</a:t>
            </a:r>
          </a:p>
          <a:p>
            <a:pPr>
              <a:defRPr sz="1200" b="0">
                <a:solidFill>
                  <a:srgbClr val="CCFBF1"/>
                </a:solidFill>
                <a:latin typeface="Segoe UI"/>
              </a:defRPr>
            </a:pPr>
            <a:r>
              <a:t>Click during slideshow to open</a:t>
            </a:r>
          </a:p>
        </p:txBody>
      </p:sp>
      <p:sp>
        <p:nvSpPr>
          <p:cNvPr id="8" name="Rounded Rectangle 7">
            <a:hlinkClick r:id="rId2"/>
          </p:cNvPr>
          <p:cNvSpPr/>
          <p:nvPr/>
        </p:nvSpPr>
        <p:spPr>
          <a:xfrm>
            <a:off x="868680" y="1828800"/>
            <a:ext cx="5303520" cy="530352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Live Application — swapship.onrender.com</a:t>
            </a:r>
          </a:p>
        </p:txBody>
      </p:sp>
      <p:sp>
        <p:nvSpPr>
          <p:cNvPr id="9" name="Rounded Rectangle 8">
            <a:hlinkClick r:id="rId3"/>
          </p:cNvPr>
          <p:cNvSpPr/>
          <p:nvPr/>
        </p:nvSpPr>
        <p:spPr>
          <a:xfrm>
            <a:off x="868680" y="2606040"/>
            <a:ext cx="5303520" cy="530352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GitHub Source Code — Abhii0018/SwapShip</a:t>
            </a:r>
          </a:p>
        </p:txBody>
      </p:sp>
      <p:sp>
        <p:nvSpPr>
          <p:cNvPr id="10" name="Rounded Rectangle 9">
            <a:hlinkClick r:id="rId4"/>
          </p:cNvPr>
          <p:cNvSpPr/>
          <p:nvPr/>
        </p:nvSpPr>
        <p:spPr>
          <a:xfrm>
            <a:off x="868680" y="3383280"/>
            <a:ext cx="5303520" cy="530352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Demo Video Walkthrough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Suggested demo flow: Register → Add item → Send request → Chat → Payment → Track shipment</a:t>
            </a:r>
          </a:p>
          <a:p>
            <a:pPr>
              <a:spcAft>
                <a:spcPts val="10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Health endpoint: /healthz for deployment monitoring</a:t>
            </a:r>
          </a:p>
          <a:p>
            <a:pPr>
              <a:spcAft>
                <a:spcPts val="1000"/>
              </a:spcAft>
              <a:defRPr sz="1200" b="0">
                <a:solidFill>
                  <a:srgbClr val="1A2330"/>
                </a:solidFill>
                <a:latin typeface="Segoe UI"/>
              </a:defRPr>
            </a:pPr>
            <a:r>
              <a:t>Integrations: FedEx, DHL, Delhivery-style shipping (mock provider for dev)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19088"/>
            <a:ext cx="11201400" cy="10160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6878"/>
                </a:solidFill>
                <a:latin typeface="Segoe UI"/>
              </a:defRPr>
            </a:pPr>
            <a:r>
              <a:t>SwapShip  |  MVC Programing (INT221)  |  Abhishek Kumar  |  Reg. 12300520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9224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5A6878"/>
                </a:solidFill>
                <a:latin typeface="Segoe UI"/>
              </a:defRPr>
            </a:pPr>
            <a:r>
              <a:t>13 / 14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B4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Conclusion</a:t>
            </a:r>
          </a:p>
          <a:p>
            <a:pPr algn="ctr">
              <a:spcBef>
                <a:spcPts val="1600"/>
              </a:spcBef>
              <a:defRPr sz="1400" b="0">
                <a:solidFill>
                  <a:srgbClr val="CCFBF1"/>
                </a:solidFill>
                <a:latin typeface="Segoe UI"/>
              </a:defRPr>
            </a:pPr>
            <a:r>
              <a:t>SwapShip successfully integrates marketplace, chat, split payments, shipping &amp; OTP into one Laravel MVC application — reducing P2P trade friction and building user trust.</a:t>
            </a:r>
          </a:p>
          <a:p>
            <a:pPr algn="ctr">
              <a:spcBef>
                <a:spcPts val="2000"/>
              </a:spcBef>
              <a:defRPr sz="1300" b="0">
                <a:solidFill>
                  <a:srgbClr val="FFFFFF"/>
                </a:solidFill>
                <a:latin typeface="Segoe UI"/>
              </a:defRPr>
            </a:pPr>
            <a:r>
              <a:t>Future scope: mobile app, dispute resolution, ratings &amp; reviews, multi-language support</a:t>
            </a:r>
          </a:p>
          <a:p>
            <a:pPr algn="ctr">
              <a:spcBef>
                <a:spcPts val="2800"/>
              </a:spcBef>
              <a:defRPr sz="2200" b="1">
                <a:solidFill>
                  <a:srgbClr val="B48E2D"/>
                </a:solidFill>
                <a:latin typeface="Segoe UI"/>
              </a:defRPr>
            </a:pPr>
            <a:r>
              <a:t>Thank You — Questions?</a:t>
            </a:r>
          </a:p>
          <a:p>
            <a:pPr algn="ctr">
              <a:spcBef>
                <a:spcPts val="1200"/>
              </a:spcBef>
              <a:defRPr sz="1200" b="0">
                <a:solidFill>
                  <a:srgbClr val="5A6878"/>
                </a:solidFill>
                <a:latin typeface="Segoe UI"/>
              </a:defRPr>
            </a:pPr>
            <a:r>
              <a:t>Abhishek Kumar  ·  INT221  ·  SwapShip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201400" cy="10160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6878"/>
                </a:solidFill>
                <a:latin typeface="Segoe UI"/>
              </a:defRPr>
            </a:pPr>
            <a:r>
              <a:t>SwapShip  |  MVC Programing (INT221)  |  Abhishek Kumar  |  Reg. 12300520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5A6878"/>
                </a:solidFill>
                <a:latin typeface="Segoe UI"/>
              </a:defRPr>
            </a:pPr>
            <a:r>
              <a:t>14 / 14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