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yourself, college, guide, and project in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swap/trust/shipping matter to everyday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One-liner: SwapShip = trusted swap marketplace end-to-end.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objectives clearly — maps to evaluation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Laravel MVC, Tailwind responsiveness, Pusher real-time, Cloudinary images.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flowchart left-to-right — this is a key evaluator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normalization and foreign keys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Optionally show 1 live screenshot from swapship.onrender.com.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Interviewers value this slide — show you debugged real issues.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Share live URL, walk through demo flow, mention Render + Docker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forward thinking without undermining current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impact, invite questions confidently.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635" y="37211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18288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914400" y="41148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123444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1005840" cy="1005840"/>
          </a:xfrm>
          <a:prstGeom prst="roundRect">
            <a:avLst>
              <a:gd name="adj" fmla="val 20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64208"/>
            <a:ext cx="1005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60A12"/>
                </a:solidFill>
                <a:latin typeface="Segoe UI"/>
              </a:defRPr>
            </a:pPr>
            <a:r>
              <a:t>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65960" y="1021080"/>
            <a:ext cx="4714875" cy="340106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defRPr sz="5600" b="1">
                <a:solidFill>
                  <a:srgbClr val="F8FAFC"/>
                </a:solidFill>
                <a:latin typeface="Segoe UI"/>
              </a:defRPr>
            </a:pPr>
            <a:r>
              <a:t>SwapShip</a:t>
            </a:r>
          </a:p>
          <a:p>
            <a:pPr>
              <a:spcBef>
                <a:spcPts val="800"/>
              </a:spcBef>
              <a:defRPr sz="2000" b="0">
                <a:solidFill>
                  <a:srgbClr val="00D4FF"/>
                </a:solidFill>
                <a:latin typeface="Segoe UI"/>
              </a:defRPr>
            </a:pPr>
            <a:r>
              <a:t>Peer-to-Peer Item Exchange Platform</a:t>
            </a:r>
          </a:p>
          <a:p>
            <a:pPr>
              <a:spcBef>
                <a:spcPts val="1000"/>
              </a:spcBef>
              <a:defRPr sz="1400" b="0">
                <a:solidFill>
                  <a:srgbClr val="94A3B8"/>
                </a:solidFill>
                <a:latin typeface="Segoe UI"/>
              </a:defRPr>
            </a:pPr>
            <a:r>
              <a:t>Presented by: Abhishek Kumar  |  Reg. 12300520</a:t>
            </a:r>
          </a:p>
          <a:p>
            <a:pPr>
              <a:spcBef>
                <a:spcPts val="1000"/>
              </a:spcBef>
              <a:defRPr sz="1300" b="0">
                <a:solidFill>
                  <a:srgbClr val="F8FAFC"/>
                </a:solidFill>
                <a:latin typeface="Segoe UI"/>
              </a:defRPr>
            </a:pPr>
            <a:r>
              <a:rPr lang="en-US"/>
              <a:t>Lovely Professional University</a:t>
            </a:r>
            <a:endParaRPr lang="en-US"/>
          </a:p>
          <a:p>
            <a:pPr>
              <a:spcBef>
                <a:spcPts val="1000"/>
              </a:spcBef>
              <a:defRPr sz="1300" b="0">
                <a:solidFill>
                  <a:srgbClr val="F8FAFC"/>
                </a:solidFill>
                <a:latin typeface="Segoe UI"/>
              </a:defRPr>
            </a:pPr>
            <a:r>
              <a:t>Department: Computer Science &amp; Engineering</a:t>
            </a:r>
          </a:p>
          <a:p>
            <a:pPr>
              <a:spcBef>
                <a:spcPts val="1000"/>
              </a:spcBef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Guide: </a:t>
            </a:r>
            <a:r>
              <a:rPr lang="en-US"/>
              <a:t>Ishika Mam</a:t>
            </a:r>
            <a:r>
              <a:t> |  MVC Programming (INT221)</a:t>
            </a:r>
          </a:p>
          <a:p>
            <a:pPr>
              <a:spcBef>
                <a:spcPts val="1000"/>
              </a:spcBef>
              <a:defRPr sz="1200" b="0">
                <a:solidFill>
                  <a:srgbClr val="78E6FF"/>
                </a:solidFill>
                <a:latin typeface="Segoe UI"/>
              </a:defRPr>
            </a:pPr>
            <a:r>
              <a:t>24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24530" y="5440680"/>
            <a:ext cx="7498080" cy="260350"/>
          </a:xfrm>
          <a:prstGeom prst="rect">
            <a:avLst/>
          </a:prstGeom>
          <a:gradFill>
            <a:gsLst>
              <a:gs pos="0">
                <a:schemeClr val="accent1">
                  <a:tint val="50000"/>
                  <a:satMod val="300000"/>
                </a:schemeClr>
              </a:gs>
              <a:gs pos="35000">
                <a:schemeClr val="accent1">
                  <a:tint val="37000"/>
                  <a:satMod val="300000"/>
                </a:schemeClr>
              </a:gs>
              <a:gs pos="100000">
                <a:schemeClr val="accent1">
                  <a:tint val="15000"/>
                  <a:satMod val="350000"/>
                </a:schemeClr>
              </a:gs>
              <a:gs pos="50000">
                <a:schemeClr val="accent2"/>
              </a:gs>
              <a:gs pos="0">
                <a:schemeClr val="accent2">
                  <a:lumMod val="25000"/>
                  <a:lumOff val="75000"/>
                </a:schemeClr>
              </a:gs>
              <a:gs pos="100000">
                <a:schemeClr val="accent2">
                  <a:lumMod val="85000"/>
                </a:schemeClr>
              </a:gs>
            </a:gsLst>
            <a:lin ang="5400000" scaled="1"/>
          </a:gradFill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defRPr sz="1100" b="0">
                <a:solidFill>
                  <a:srgbClr val="00D4FF"/>
                </a:solidFill>
                <a:latin typeface="Segoe UI"/>
              </a:defRPr>
            </a:pPr>
            <a:r>
              <a:t>https://swapship.onrender.com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 / 12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Problem Statement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Real-world challenges in item exchange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▸  People often have unused items but lack an easy platform to exchange them.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▸  Existing platforms focus on buying/selling — not peer-to-peer swapping.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▸  Users face trust issues: payment risk, fake listings, unverified strangers.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▸  Communication and shipment tracking are fragmented across multiple apps.</a:t>
            </a:r>
          </a:p>
          <a:p>
            <a:pPr>
              <a:spcAft>
                <a:spcPts val="800"/>
              </a:spcAft>
              <a:defRPr sz="1300" b="0">
                <a:solidFill>
                  <a:srgbClr val="F8FAFC"/>
                </a:solidFill>
                <a:latin typeface="Segoe UI"/>
              </a:defRPr>
            </a:pPr>
            <a:r>
              <a:t>▸  No single system covers discovery → chat → payment → delivery proof.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4709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4873752"/>
            <a:ext cx="502920" cy="5029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9103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A12"/>
                </a:solidFill>
                <a:latin typeface="Segoe UI"/>
              </a:defRPr>
            </a:pPr>
            <a:r>
              <a:t>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4846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Exchange Gap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3949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No dedicated swap-first marketplace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60520" y="4709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43400" y="4873752"/>
            <a:ext cx="502920" cy="50292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49103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A12"/>
                </a:solidFill>
                <a:latin typeface="Segoe UI"/>
              </a:defRPr>
            </a:pPr>
            <a:r>
              <a:t>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4846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Shipping Pain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53949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Tracking &amp; handover lack transparency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35240" y="4709160"/>
            <a:ext cx="3291840" cy="1417320"/>
          </a:xfrm>
          <a:prstGeom prst="roundRect">
            <a:avLst>
              <a:gd name="adj" fmla="val 8000"/>
            </a:avLst>
          </a:prstGeom>
          <a:solidFill>
            <a:srgbClr val="0E1420"/>
          </a:solidFill>
          <a:ln w="15240"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818120" y="4873752"/>
            <a:ext cx="502920" cy="50292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4910328"/>
            <a:ext cx="5029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60A12"/>
                </a:solidFill>
                <a:latin typeface="Segoe UI"/>
              </a:defRPr>
            </a:pPr>
            <a: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846320"/>
            <a:ext cx="2377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FAFC"/>
                </a:solidFill>
                <a:latin typeface="Segoe UI"/>
              </a:defRPr>
            </a:pPr>
            <a:r>
              <a:t>Trust &amp; Chat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5394960"/>
            <a:ext cx="2971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Negotiation happens outside secure channels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2 / 12</a:t>
            </a:r>
          </a:p>
        </p:txBody>
      </p:sp>
    </p:spTree>
  </p:cSld>
  <p:clrMapOvr>
    <a:masterClrMapping/>
  </p:clrMapOvr>
  <p:transition spd="med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Project Overview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What is SwapShip?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25880"/>
            <a:ext cx="5394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SwapShip is a web-based item exchange platform for students and general users.</a:t>
            </a:r>
          </a:p>
          <a:p>
            <a:pPr>
              <a:spcAft>
                <a:spcPts val="8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Users upload items, explore listings, send exchange requests, chat, pay, and track shipments.</a:t>
            </a:r>
          </a:p>
          <a:p>
            <a:pPr>
              <a:spcAft>
                <a:spcPts val="8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Built as a full-stack Laravel MVC academic project with production deployment.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788920"/>
            <a:ext cx="539496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Core Modules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User Authentication (OTP + Google)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Item Management &amp; Explore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Exchange Requests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Real-Time Messaging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Shipment Tracking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Payment System (Razorpay)</a:t>
            </a:r>
          </a:p>
          <a:p>
            <a:pPr>
              <a:spcAft>
                <a:spcPts val="2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• Admin Dashboard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25880"/>
            <a:ext cx="5166360" cy="470916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754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Workflow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1965960"/>
            <a:ext cx="868680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075688"/>
            <a:ext cx="704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423160"/>
            <a:ext cx="704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Register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443216" y="246888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562088" y="1965960"/>
            <a:ext cx="868680" cy="123444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53528" y="2075688"/>
            <a:ext cx="704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3528" y="2423160"/>
            <a:ext cx="704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List item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8421624" y="246888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1965960"/>
            <a:ext cx="868680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31936" y="2075688"/>
            <a:ext cx="704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Request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31936" y="2423160"/>
            <a:ext cx="704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Exchange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00032" y="246888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518904" y="1965960"/>
            <a:ext cx="868680" cy="123444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0344" y="2075688"/>
            <a:ext cx="704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Ship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2423160"/>
            <a:ext cx="704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Track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0378440" y="246888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0497312" y="1965960"/>
            <a:ext cx="868680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588752" y="2075688"/>
            <a:ext cx="70408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Done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8752" y="2423160"/>
            <a:ext cx="70408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3 / 12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Objectives of the Project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Build a secure item exchange platform with verified users.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Enable smooth shipment management with status events &amp; delivery OTP.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Provide real-time communication between buyers and sellers.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Create a responsive, modern UI for better user experience.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Maintain secure authentication, authorization, and admin oversight.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Reduce complexity of traditional multi-app exchange workflows.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4 / 12</a:t>
            </a:r>
          </a:p>
        </p:txBody>
      </p:sp>
    </p:spTree>
  </p:cSld>
  <p:clrMapOvr>
    <a:masterClrMapping/>
  </p:clrMapOvr>
  <p:transition spd="med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Technology Stack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Tools chosen and why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0876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184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947672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Blade templates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Tailwind CSS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Alpine.js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260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Why: Responsive UI &amp; fast builds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11880" y="150876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40" y="161848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40" y="1947672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PHP 8.3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Laravel 13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MVC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92608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Why: Secure routing, auth, 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88620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959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25112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MySQL / PostgreSQL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3035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Why: Relational data for users, items, orders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11880" y="3886200"/>
            <a:ext cx="2651760" cy="214884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49040" y="3995928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Integrations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325112"/>
            <a:ext cx="2423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Pusher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Cloudinary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SendGrid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Razorpay</a:t>
            </a:r>
          </a:p>
          <a:p>
            <a:pPr>
              <a:spcAft>
                <a:spcPts val="2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• Docker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49040" y="5303520"/>
            <a:ext cx="2423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94A3B8"/>
                </a:solidFill>
                <a:latin typeface="Segoe UI"/>
              </a:defRPr>
            </a:pPr>
            <a:r>
              <a:t>Why: Chat, media, mail, payments, deploy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5 / 12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System Architecture &amp; Workflow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End-to-end transaction 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Register / Login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154065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272937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64377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64377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Upload Item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695482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814354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05794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05794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Exchange Req.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236899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355771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47211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7211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6778316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897188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88628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88628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Payment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319733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38605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30045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30045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Shipment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9861150" y="1920240"/>
            <a:ext cx="201168" cy="164592"/>
          </a:xfrm>
          <a:prstGeom prst="rightArrow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0022" y="1417320"/>
            <a:ext cx="1431689" cy="1234440"/>
          </a:xfrm>
          <a:prstGeom prst="roundRect">
            <a:avLst>
              <a:gd name="adj" fmla="val 10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71462" y="1527048"/>
            <a:ext cx="1267097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71462" y="1874520"/>
            <a:ext cx="1267097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Complete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880360"/>
            <a:ext cx="107899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MVC Architecture</a:t>
            </a:r>
          </a:p>
          <a:p>
            <a:pPr>
              <a:spcAft>
                <a:spcPts val="8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View: Blade + Tailwind + Alpine.js  →  Controller: Item, Exchange, Message, Shipment, Payment, Admin</a:t>
            </a:r>
          </a:p>
          <a:p>
            <a:pPr>
              <a:spcAft>
                <a:spcPts val="800"/>
              </a:spcAft>
              <a:defRPr sz="1100" b="0">
                <a:solidFill>
                  <a:srgbClr val="94A3B8"/>
                </a:solidFill>
                <a:latin typeface="Segoe UI"/>
              </a:defRPr>
            </a:pPr>
            <a:r>
              <a:t>Model: User, Item, ExchangeRequest, Message, Shipment, Order  →  Services: Shipping, OTP Mail, 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6 / 12</a:t>
            </a: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Database Design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Schema &amp; relationships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5623560" cy="507492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5349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Core Tables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179222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186537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86537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Accounts, roles, verification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34086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41401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items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41401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Listings, geo, condition, price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88950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296265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item_images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96265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Cloudinary image URLs per item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3814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51129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exchange_requests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60320" y="351129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Swap deals between two users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405993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messages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405993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Chat per exchange (attachments)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53542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60857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shipments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60320" y="460857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AWB, status, pickup &amp; delivery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508406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515721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shipment_events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515721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Tracking timeline events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632704"/>
            <a:ext cx="5257800" cy="530352"/>
          </a:xfrm>
          <a:prstGeom prst="rect">
            <a:avLst/>
          </a:prstGeom>
          <a:solidFill>
            <a:srgbClr val="141C2C"/>
          </a:solidFill>
          <a:ln w="508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5705856"/>
            <a:ext cx="1691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D4FF"/>
                </a:solidFill>
                <a:latin typeface="Segoe UI"/>
              </a:defRPr>
            </a:pPr>
            <a:r>
              <a:t>orders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0" y="5705856"/>
            <a:ext cx="342900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Razorpay payment stages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55080" y="1261872"/>
            <a:ext cx="5257800" cy="507492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19672" y="1371600"/>
            <a:ext cx="4983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Relationships &amp; Design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1792224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One user → many items (1:N)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One item → many item_images (1:N)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Exchange request links requester &amp; owner (N:1 each)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Messages belong to an exchange request (1:N)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One exchange → one shipment; many shipment_events (1:N)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Orders track payment linked to exchange workflow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Foreign keys + indexes for query performance</a:t>
            </a:r>
          </a:p>
          <a:p>
            <a:pPr>
              <a:spcAft>
                <a:spcPts val="700"/>
              </a:spcAft>
              <a:defRPr sz="1100" b="0">
                <a:solidFill>
                  <a:srgbClr val="F8FAFC"/>
                </a:solidFill>
                <a:latin typeface="Segoe UI"/>
              </a:defRPr>
            </a:pPr>
            <a:r>
              <a:t>▸  MySQL / PostgreSQL with Laravel Eloquent ORM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7 / 12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Key Features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Major capabilities of SwapShip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544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6916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Auth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0116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OTP + Google OAuth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24328" y="15544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34056" y="16916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Listings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4056" y="20116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Upload &amp; explore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08576" y="1554480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1691640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8304" y="20116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Real-time messaging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807208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9443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Ship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2644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Tracking &amp; delivery OTP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24328" y="2807208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34056" y="29443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4056" y="32644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Razorpay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08576" y="2807208"/>
            <a:ext cx="1783080" cy="1051560"/>
          </a:xfrm>
          <a:prstGeom prst="roundRect">
            <a:avLst>
              <a:gd name="adj" fmla="val 10000"/>
            </a:avLst>
          </a:prstGeom>
          <a:solidFill>
            <a:srgbClr val="141C2C"/>
          </a:solidFill>
          <a:ln w="1016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18304" y="2944368"/>
            <a:ext cx="1783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D4FF"/>
                </a:solidFill>
                <a:latin typeface="Segoe UI"/>
              </a:defRPr>
            </a:pPr>
            <a:r>
              <a:t>Admin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8304" y="326440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Dashboard &amp;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977639"/>
            <a:ext cx="10881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0">
                <a:solidFill>
                  <a:srgbClr val="F8FAFC"/>
                </a:solidFill>
                <a:latin typeface="Segoe UI"/>
              </a:defRPr>
            </a:pPr>
            <a:r>
              <a:t>+ Search &amp; filters  ·  Saved searches  ·  Exchange requests  ·  Responsive dark UI  ·  Deployed on Render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8 / 12</a:t>
            </a:r>
          </a:p>
        </p:txBody>
      </p:sp>
    </p:spTree>
  </p:cSld>
  <p:clrMapOvr>
    <a:masterClrMapping/>
  </p:clrMapOvr>
  <p:transition spd="med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Challenges Faced &amp; Solutions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Problem-solving during development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384048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664208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0A12"/>
                </a:solidFill>
                <a:latin typeface="Segoe UI"/>
              </a:defRPr>
            </a:pPr>
            <a:r>
              <a:t>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00200"/>
            <a:ext cx="7040880" cy="384048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664208"/>
            <a:ext cx="7040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60A12"/>
                </a:solidFill>
                <a:latin typeface="Segoe UI"/>
              </a:defRPr>
            </a:pPr>
            <a:r>
              <a:t>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011680"/>
            <a:ext cx="38404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212140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Real-time communication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60" y="2011680"/>
            <a:ext cx="70408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90288" y="212140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Pusher + Laravel Echo for live chat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670048"/>
            <a:ext cx="38404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2779776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Image storage at scale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80560" y="2670048"/>
            <a:ext cx="70408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2779776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Cloudinary CDN uploads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328416"/>
            <a:ext cx="38404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438144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Secure authentication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3328416"/>
            <a:ext cx="70408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3438144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Laravel Breeze, email OTP, Google OAuth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3986784"/>
            <a:ext cx="38404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096512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OTP email on cloud hosting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80560" y="3986784"/>
            <a:ext cx="70408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0288" y="4096512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SendGrid HTTP API (Render-safe)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645152"/>
            <a:ext cx="38404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754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Shipment workflow complexity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480560" y="4645152"/>
            <a:ext cx="7040880" cy="621792"/>
          </a:xfrm>
          <a:prstGeom prst="rect">
            <a:avLst/>
          </a:prstGeom>
          <a:solidFill>
            <a:srgbClr val="0E1420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90288" y="4754880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Structured shipment module + event timeline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5303520"/>
            <a:ext cx="38404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5413248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Payment trust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80560" y="5303520"/>
            <a:ext cx="7040880" cy="621792"/>
          </a:xfrm>
          <a:prstGeom prst="rect">
            <a:avLst/>
          </a:prstGeom>
          <a:solidFill>
            <a:srgbClr val="141C2C"/>
          </a:solidFill>
          <a:ln w="63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0288" y="5413248"/>
            <a:ext cx="6858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F8FAFC"/>
                </a:solidFill>
                <a:latin typeface="Segoe UI"/>
              </a:defRPr>
            </a:pPr>
            <a:r>
              <a:t>Razorpay escrow-style split payments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9 / 12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Project Outcomes &amp; Deployment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Results, live links &amp; demo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61872"/>
            <a:ext cx="5394960" cy="507492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71600"/>
            <a:ext cx="5120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Project 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92224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Fully functional P2P exchange web app deployed on Render</a:t>
            </a:r>
          </a:p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End-to-end flow: register → list → exchange → chat → pay → ship</a:t>
            </a:r>
          </a:p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Email OTP verification + Google OAuth for secure onboarding</a:t>
            </a:r>
          </a:p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Real-time chat with Pusher; images via Cloudinary CDN</a:t>
            </a:r>
          </a:p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Razorpay split payments with webhook verification</a:t>
            </a:r>
          </a:p>
          <a:p>
            <a:pPr>
              <a:spcAft>
                <a:spcPts val="1000"/>
              </a:spcAft>
              <a:defRPr sz="1200" b="0">
                <a:solidFill>
                  <a:srgbClr val="F8FAFC"/>
                </a:solidFill>
                <a:latin typeface="Segoe UI"/>
              </a:defRPr>
            </a:pPr>
            <a:r>
              <a:t>▸  Admin dashboard for users, items, orders &amp; delivery OTP stats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261872"/>
            <a:ext cx="5440680" cy="507492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1371600"/>
            <a:ext cx="51663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D4FF"/>
                </a:solidFill>
                <a:latin typeface="Segoe UI"/>
              </a:defRPr>
            </a:pPr>
            <a:r>
              <a:t>Deployment &amp; Demo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856232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41C2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47672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Live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240280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https://swapship.onrender.com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2843784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41C2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935224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GitHub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227832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github.com/Abhii0018/SwapShip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831336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41C2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22776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Health 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215384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https://swapship.onrender.com/healthz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4818888"/>
            <a:ext cx="5074920" cy="868680"/>
          </a:xfrm>
          <a:prstGeom prst="roundRect">
            <a:avLst>
              <a:gd name="adj" fmla="val 12000"/>
            </a:avLst>
          </a:prstGeom>
          <a:solidFill>
            <a:srgbClr val="141C2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910328"/>
            <a:ext cx="1280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5202936"/>
            <a:ext cx="4800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0">
                <a:solidFill>
                  <a:srgbClr val="94A3B8"/>
                </a:solidFill>
                <a:latin typeface="Segoe UI"/>
              </a:defRPr>
            </a:pPr>
            <a:r>
              <a:t>Laravel 13 · Docker · Render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943600"/>
            <a:ext cx="5074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D4FF"/>
                </a:solidFill>
                <a:latin typeface="Segoe UI"/>
              </a:defRPr>
            </a:pPr>
            <a:r>
              <a:t>Suggested Demo Flow</a:t>
            </a:r>
          </a:p>
          <a:p>
            <a:pPr>
              <a:spcBef>
                <a:spcPts val="600"/>
              </a:spcBef>
              <a:defRPr sz="1000" b="0">
                <a:solidFill>
                  <a:srgbClr val="F8FAFC"/>
                </a:solidFill>
                <a:latin typeface="Segoe UI"/>
              </a:defRPr>
            </a:pPr>
            <a:r>
              <a:t>Register → Add Item → Send Request → Chat → Pay → Track Shipment → Verify OTP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10 / 12</a:t>
            </a:r>
          </a:p>
        </p:txBody>
      </p:sp>
    </p:spTree>
  </p:cSld>
  <p:clrMapOvr>
    <a:masterClrMapping/>
  </p:clrMapOvr>
  <p:transition spd="med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-1828800"/>
            <a:ext cx="5029200" cy="5029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960120"/>
            <a:ext cx="12191695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4592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  <a:latin typeface="Segoe UI"/>
              </a:defRPr>
            </a:pPr>
            <a:r>
              <a:t>Future Enhancements</a:t>
            </a:r>
          </a:p>
          <a:p>
            <a:pPr>
              <a:defRPr sz="1200" b="0">
                <a:solidFill>
                  <a:srgbClr val="78E6FF"/>
                </a:solidFill>
                <a:latin typeface="Segoe UI"/>
              </a:defRPr>
            </a:pPr>
            <a:r>
              <a:t>Scalability &amp; vision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AI-based item recommendations and smart matching.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Native mobile application (Android / iOS).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Advanced shipment tracking with courier API integrations.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Rating &amp; review system for user reputation.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Video call / richer media support in chat.</a:t>
            </a:r>
          </a:p>
          <a:p>
            <a:pPr>
              <a:spcAft>
                <a:spcPts val="800"/>
              </a:spcAft>
              <a:defRPr sz="1400" b="0">
                <a:solidFill>
                  <a:srgbClr val="F8FAFC"/>
                </a:solidFill>
                <a:latin typeface="Segoe UI"/>
              </a:defRPr>
            </a:pPr>
            <a:r>
              <a:t>▸  Multi-language support for wider adoption.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11 / 12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828800" y="4114800"/>
            <a:ext cx="4114800" cy="411480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-1371600"/>
            <a:ext cx="4114800" cy="41148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234440" y="1325880"/>
            <a:ext cx="9738360" cy="4892040"/>
          </a:xfrm>
          <a:prstGeom prst="roundRect">
            <a:avLst>
              <a:gd name="adj" fmla="val 3000"/>
            </a:avLst>
          </a:prstGeom>
          <a:solidFill>
            <a:srgbClr val="0E1420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08760" y="1600200"/>
            <a:ext cx="918972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  <a:latin typeface="Segoe UI"/>
              </a:defRPr>
            </a:pPr>
            <a:r>
              <a:t>Conclusion</a:t>
            </a:r>
          </a:p>
          <a:p>
            <a:pPr algn="ctr">
              <a:spcBef>
                <a:spcPts val="1600"/>
              </a:spcBef>
              <a:defRPr sz="1400" b="0">
                <a:solidFill>
                  <a:srgbClr val="78E6FF"/>
                </a:solidFill>
                <a:latin typeface="Segoe UI"/>
              </a:defRPr>
            </a:pPr>
            <a:r>
              <a:t>SwapShip provides a modern, secure platform for item exchange with integrated shipment management, real-time communication, and scalable Laravel MVC architecture.</a:t>
            </a:r>
          </a:p>
          <a:p>
            <a:pPr algn="ctr">
              <a:spcBef>
                <a:spcPts val="1400"/>
              </a:spcBef>
              <a:defRPr sz="1200" b="0">
                <a:solidFill>
                  <a:srgbClr val="F8FAFC"/>
                </a:solidFill>
                <a:latin typeface="Segoe UI"/>
              </a:defRPr>
            </a:pPr>
            <a:r>
              <a:t>Achieved: verified users · escrow payments · live tracking · admin oversight · cloud deployment</a:t>
            </a:r>
          </a:p>
          <a:p>
            <a:pPr algn="ctr">
              <a:spcBef>
                <a:spcPts val="1200"/>
              </a:spcBef>
              <a:defRPr sz="1100" b="0">
                <a:solidFill>
                  <a:srgbClr val="94A3B8"/>
                </a:solidFill>
                <a:latin typeface="Segoe UI"/>
              </a:defRPr>
            </a:pPr>
            <a:r>
              <a:t>Laravel 13 · Tailwind · MySQL · Pusher · Cloudinary · SendGrid · Razorpay · Docker · Render</a:t>
            </a:r>
          </a:p>
          <a:p>
            <a:pPr algn="ctr">
              <a:spcBef>
                <a:spcPts val="2200"/>
              </a:spcBef>
              <a:defRPr sz="2600" b="1">
                <a:solidFill>
                  <a:srgbClr val="00D4FF"/>
                </a:solidFill>
                <a:latin typeface="Segoe UI"/>
              </a:defRPr>
            </a:pPr>
            <a:r>
              <a:t>Thank You</a:t>
            </a:r>
          </a:p>
          <a:p>
            <a:pPr algn="ctr">
              <a:spcBef>
                <a:spcPts val="800"/>
              </a:spcBef>
              <a:defRPr sz="1800" b="1">
                <a:solidFill>
                  <a:srgbClr val="D4AF37"/>
                </a:solidFill>
                <a:latin typeface="Segoe UI"/>
              </a:defRPr>
            </a:pPr>
            <a:r>
              <a:t>Questions?</a:t>
            </a:r>
          </a:p>
          <a:p>
            <a:pPr algn="ctr">
              <a:spcBef>
                <a:spcPts val="1400"/>
              </a:spcBef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Abhishek Kumar  ·  12300520  ·  MVC Programming (INT221)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94A3B8"/>
                </a:solidFill>
                <a:latin typeface="Segoe UI"/>
              </a:defRPr>
            </a:pPr>
            <a:r>
              <a:t>SwapShip  |  MVC Programming (INT221)  |  Abhishek Kumar  |  12300520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473952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Segoe UI"/>
              </a:defRPr>
            </a:pPr>
            <a:r>
              <a:t>12 / 12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6341</Words>
  <Application>WPS Presentation</Application>
  <PresentationFormat>On-screen Show (4:3)</PresentationFormat>
  <Paragraphs>364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SimSun</vt:lpstr>
      <vt:lpstr>Wingdings</vt:lpstr>
      <vt:lpstr>Arial</vt:lpstr>
      <vt:lpstr>Segoe UI</vt:lpstr>
      <vt:lpstr>Thonburi</vt:lpstr>
      <vt:lpstr>Calibri</vt:lpstr>
      <vt:lpstr>Helvetica Neue</vt:lpstr>
      <vt:lpstr>Microsoft YaHei</vt:lpstr>
      <vt:lpstr>汉仪旗黑</vt:lpstr>
      <vt:lpstr>Arial Unicode MS</vt:lpstr>
      <vt:lpstr>宋体-简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Abhishek Kumar Sah</cp:lastModifiedBy>
  <cp:revision>2</cp:revision>
  <dcterms:created xsi:type="dcterms:W3CDTF">2026-05-24T14:54:54Z</dcterms:created>
  <dcterms:modified xsi:type="dcterms:W3CDTF">2026-05-24T14:54:54Z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16A16103DA35687C3E11136A25133D82_42</vt:lpwstr>
  </property>
</Properties>
</file>